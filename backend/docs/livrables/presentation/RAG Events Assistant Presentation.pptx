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B9D479-7BAB-44A8-9FED-10BAE896F14C}" v="131" dt="2026-02-04T16:33:09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2379E-F4E8-4070-B888-BFDF4949EE79}" type="datetimeFigureOut">
              <a:t>04/02/2026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611EB6-6FC7-4239-A049-F487DDCEB125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5595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14B8A6">
              <a:alpha val="6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06073" y="1289497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Events Assistant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Intelligent pour Evenements Culturels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3566160"/>
            <a:ext cx="1828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Pierre Pluton | OpenClassrooms P7 |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de la presentation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et objectifs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28016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Qu'est-ce que le RAG 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6888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les Embeddings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246888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46888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systeme intelligent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28016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54880" y="365760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65760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57784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et resultats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Contexte et problematique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probleme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traditionnelle = mots-cles exacts
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"concert rock" ne trouve pas "musique live"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L'utilisateur doit deviner les bons termes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97280"/>
            <a:ext cx="73152" cy="18288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solution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1645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semantique avec IA
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"Que faire ce weekend ?" comprend le sens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conversationnel en francais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 : </a:t>
            </a:r>
            <a:r>
              <a:rPr lang="en-US" sz="13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 a quoi de sympa a faire ce weekend avec les enfants a Marseille ?"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: </a:t>
            </a: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Trouve des spectacles famille, ateliers creatifs, animations gratuites... meme sans ces mots exacts 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Qu'est-ce que le RAG 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463040" y="15087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463040" y="15727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RETRIEVAL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Chercher les infos pertinentes dans notre base de donnees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1371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4343400" y="150876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4343400" y="15727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47472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AUGMENT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47472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Enrichir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52044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ce contexte a la question de l'utilisateur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1371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7223760" y="1508760"/>
            <a:ext cx="640080" cy="640080"/>
          </a:xfrm>
          <a:prstGeom prst="ellipse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6"/>
          <p:cNvSpPr/>
          <p:nvPr/>
        </p:nvSpPr>
        <p:spPr>
          <a:xfrm>
            <a:off x="7223760" y="15727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635508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4E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GENERATE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35508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Generer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40080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LLM produit une reponse basee sur ces infos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57200" y="3977640"/>
            <a:ext cx="8229600" cy="914400"/>
          </a:xfrm>
          <a:prstGeom prst="rect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60520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234440" y="41605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RAG ? Le LLM seul ne connait pas nos evenements ! On lui "donne" le contexte.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1399" y="2289081"/>
            <a:ext cx="517594" cy="439984"/>
          </a:xfrm>
          <a:prstGeom prst="rect">
            <a:avLst/>
          </a:prstGeom>
        </p:spPr>
      </p:pic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5DAA40E5-0033-E5E9-4D43-0CA152089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4176" y="2289081"/>
            <a:ext cx="517594" cy="4399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Comprendre les Embeddings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du texte en vecteurs mathematiques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Analogie : Coordonnees GPS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adresse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"Paris, France"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 coordonnees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(48.86, 2.35)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mot/phrase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"concert rock"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embedding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[0.12, -0.45, 0.78, ...]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ca marche 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8288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Arial"/>
                <a:ea typeface="Arial" pitchFamily="34" charset="-122"/>
                <a:cs typeface="Arial"/>
              </a:rPr>
              <a:t>Mots </a:t>
            </a:r>
            <a:r>
              <a:rPr lang="en-US" sz="1200" b="1" dirty="0" err="1">
                <a:solidFill>
                  <a:srgbClr val="22C55E"/>
                </a:solidFill>
                <a:latin typeface="Arial"/>
                <a:ea typeface="Arial" pitchFamily="34" charset="-122"/>
                <a:cs typeface="Arial"/>
              </a:rPr>
              <a:t>similaires</a:t>
            </a:r>
            <a:r>
              <a:rPr lang="en-US" sz="1200" b="1" dirty="0">
                <a:solidFill>
                  <a:srgbClr val="22C55E"/>
                </a:solidFill>
                <a:latin typeface="Arial"/>
                <a:ea typeface="Arial" pitchFamily="34" charset="-122"/>
                <a:cs typeface="Arial"/>
              </a:rPr>
              <a:t> = </a:t>
            </a:r>
            <a:r>
              <a:rPr lang="en-US" sz="1200" b="1" dirty="0" err="1">
                <a:solidFill>
                  <a:srgbClr val="22C55E"/>
                </a:solidFill>
                <a:latin typeface="Arial"/>
                <a:ea typeface="Arial" pitchFamily="34" charset="-122"/>
                <a:cs typeface="Arial"/>
              </a:rPr>
              <a:t>vecteurs</a:t>
            </a:r>
            <a:r>
              <a:rPr lang="en-US" sz="1200" b="1" dirty="0">
                <a:solidFill>
                  <a:srgbClr val="22C55E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b="1" dirty="0" err="1">
                <a:solidFill>
                  <a:srgbClr val="22C55E"/>
                </a:solidFill>
                <a:latin typeface="Arial"/>
                <a:ea typeface="Arial" pitchFamily="34" charset="-122"/>
                <a:cs typeface="Arial"/>
              </a:rPr>
              <a:t>proches</a:t>
            </a:r>
            <a:r>
              <a:rPr lang="en-US" sz="1200" b="1" dirty="0">
                <a:solidFill>
                  <a:srgbClr val="22C55E"/>
                </a:solidFill>
                <a:latin typeface="Arial"/>
                <a:ea typeface="Arial" pitchFamily="34" charset="-122"/>
                <a:cs typeface="Arial"/>
              </a:rPr>
              <a:t> !
</a:t>
            </a:r>
            <a:endParaRPr lang="en-US" sz="1200" b="1" dirty="0">
              <a:solidFill>
                <a:srgbClr val="22C55E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"concert" et "spectacle" sont proches
</a:t>
            </a:r>
            <a:endParaRPr lang="en-US" sz="12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"concert" et "cuisine" </a:t>
            </a:r>
            <a:r>
              <a:rPr lang="en-US" sz="1200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sont</a:t>
            </a:r>
            <a:r>
              <a:rPr lang="en-US" sz="1200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eloignes</a:t>
            </a:r>
            <a:endParaRPr lang="en-US" sz="1200" dirty="0" err="1">
              <a:solidFill>
                <a:srgbClr val="334155"/>
              </a:solidFill>
              <a:latin typeface="Arial"/>
              <a:cs typeface="Arial"/>
            </a:endParaRPr>
          </a:p>
          <a:p>
            <a:endParaRPr lang="en-US" sz="1200" dirty="0">
              <a:solidFill>
                <a:srgbClr val="334155"/>
              </a:solidFill>
              <a:latin typeface="Arial"/>
              <a:ea typeface="Arial" pitchFamily="34" charset="-122"/>
              <a:cs typeface="Arial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calcule la </a:t>
            </a: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entre vecteurs pour trouver les evenements pertinents.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8229600" cy="118872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modele : mistral-embed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 dimensions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 vecteur | Optimise pour le </a:t>
            </a: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francais</a:t>
            </a: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Entraine sur des milliards de textes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 Transformers : le coeur de l'IA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L'architecture derriere ChatGPT, Mistral, et tous les LLMs modernes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035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L'idee cle : l'Attention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Avant :</a:t>
            </a:r>
            <a:r>
              <a:rPr lang="en-US" sz="1200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l'IA</a:t>
            </a:r>
            <a:r>
              <a:rPr lang="en-US" sz="1200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lisait</a:t>
            </a:r>
            <a:r>
              <a:rPr lang="en-US" sz="1200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mot par mot, dans </a:t>
            </a:r>
            <a:r>
              <a:rPr lang="en-US" sz="1200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l'ordre</a:t>
            </a:r>
            <a:r>
              <a:rPr lang="en-US" sz="1200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
</a:t>
            </a:r>
            <a:endParaRPr lang="en-US" sz="1200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Arial"/>
                <a:ea typeface="Arial" pitchFamily="34" charset="-122"/>
                <a:cs typeface="Arial"/>
              </a:rPr>
              <a:t>Transformers :</a:t>
            </a:r>
            <a:r>
              <a:rPr lang="en-US" sz="1200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l'IA regarde </a:t>
            </a: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tous les mots en meme temps</a:t>
            </a:r>
            <a:r>
              <a:rPr lang="en-US" sz="1200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et </a:t>
            </a:r>
            <a:r>
              <a:rPr lang="en-US" sz="120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comprend</a:t>
            </a:r>
            <a:r>
              <a:rPr lang="en-US" sz="120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les relations entre </a:t>
            </a:r>
            <a:r>
              <a:rPr lang="en-US" sz="120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eux</a:t>
            </a:r>
            <a:r>
              <a:rPr lang="en-US" sz="120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.</a:t>
            </a:r>
            <a:endParaRPr lang="en-US" sz="1200" dirty="0">
              <a:solidFill>
                <a:srgbClr val="334155"/>
              </a:solidFill>
              <a:latin typeface="Arial"/>
              <a:cs typeface="Arial"/>
            </a:endParaRPr>
          </a:p>
          <a:p>
            <a:endParaRPr lang="en-US" sz="1200" dirty="0">
              <a:solidFill>
                <a:srgbClr val="334155"/>
              </a:solidFill>
              <a:latin typeface="Arial"/>
              <a:ea typeface="Arial" pitchFamily="34" charset="-122"/>
              <a:cs typeface="Arial"/>
            </a:endParaRPr>
          </a:p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Dans "La banque de la riviere", l'IA sait que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"banque" = bord de l'eau (pas finance) grace au contexte.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280160"/>
            <a:ext cx="27432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0" y="1280160"/>
            <a:ext cx="54864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6080760" y="1353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Ancien (RNN)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80760" y="1627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Sequentiel, lent, oublie le debut des phrases longues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103120"/>
            <a:ext cx="27432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0" y="2103120"/>
            <a:ext cx="54864" cy="6858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2176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80760" y="2450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Parallele, rapide, comprend le contexte global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notre projet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Embeddings (mistral-embed)</a:t>
            </a:r>
            <a:r>
              <a:rPr lang="en-US" sz="1200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: Transformer encode le texte en vecteurs
</a:t>
            </a:r>
            <a:endParaRPr lang="en-US" sz="12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LLM (mistral-small)</a:t>
            </a:r>
            <a:r>
              <a:rPr lang="en-US" sz="1200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: Transformer </a:t>
            </a:r>
            <a:r>
              <a:rPr lang="en-US" sz="1200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génère</a:t>
            </a:r>
            <a:r>
              <a:rPr lang="en-US" sz="1200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les </a:t>
            </a:r>
            <a:r>
              <a:rPr lang="en-US" sz="1200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réponses</a:t>
            </a:r>
            <a:r>
              <a:rPr lang="en-US" sz="1200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en</a:t>
            </a:r>
            <a:r>
              <a:rPr lang="en-US" sz="1200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langage</a:t>
            </a:r>
            <a:r>
              <a:rPr lang="en-US" sz="1200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naturel</a:t>
            </a:r>
            <a:endParaRPr lang="en-US" sz="1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Classification Intelligente des Requetes</a:t>
            </a:r>
            <a:endParaRPr lang="en-US" sz="2800">
              <a:latin typeface="Arial Black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22127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Optimiser en decidant quand utiliser la base vectorielle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utilisateur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50876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017520" y="1280160"/>
            <a:ext cx="201168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3017520" y="1417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Classificateur LLM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0" y="1691640"/>
            <a:ext cx="7315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1691640"/>
            <a:ext cx="0" cy="472976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03520" y="2103120"/>
            <a:ext cx="1645920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9"/>
          <p:cNvSpPr/>
          <p:nvPr/>
        </p:nvSpPr>
        <p:spPr>
          <a:xfrm>
            <a:off x="530352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SEARCH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0" y="1691640"/>
            <a:ext cx="7315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H="1">
            <a:off x="5760720" y="1314932"/>
            <a:ext cx="643943" cy="384757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DB5DABAE-E85A-702F-FC5B-1E46374B9148}"/>
              </a:ext>
            </a:extLst>
          </p:cNvPr>
          <p:cNvGrpSpPr/>
          <p:nvPr/>
        </p:nvGrpSpPr>
        <p:grpSpPr>
          <a:xfrm>
            <a:off x="6375686" y="1048663"/>
            <a:ext cx="1463041" cy="640080"/>
            <a:chOff x="6375686" y="1048663"/>
            <a:chExt cx="1463041" cy="640080"/>
          </a:xfrm>
        </p:grpSpPr>
        <p:sp>
          <p:nvSpPr>
            <p:cNvPr id="15" name="Shape 12"/>
            <p:cNvSpPr/>
            <p:nvPr/>
          </p:nvSpPr>
          <p:spPr>
            <a:xfrm>
              <a:off x="6375686" y="1048663"/>
              <a:ext cx="1463040" cy="640080"/>
            </a:xfrm>
            <a:prstGeom prst="rect">
              <a:avLst/>
            </a:prstGeom>
            <a:solidFill>
              <a:srgbClr val="14B8A6"/>
            </a:solidFill>
            <a:ln/>
          </p:spPr>
        </p:sp>
        <p:sp>
          <p:nvSpPr>
            <p:cNvPr id="16" name="Text 13"/>
            <p:cNvSpPr/>
            <p:nvPr/>
          </p:nvSpPr>
          <p:spPr>
            <a:xfrm>
              <a:off x="6375687" y="1185823"/>
              <a:ext cx="1463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CHAT</a:t>
              </a:r>
              <a:endParaRPr lang="en-US" sz="1400" dirty="0"/>
            </a:p>
          </p:txBody>
        </p: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53BDD6C0-5E25-8DE4-FD8D-9A1DAE995321}"/>
              </a:ext>
            </a:extLst>
          </p:cNvPr>
          <p:cNvGrpSpPr/>
          <p:nvPr/>
        </p:nvGrpSpPr>
        <p:grpSpPr>
          <a:xfrm>
            <a:off x="5117742" y="3197824"/>
            <a:ext cx="2283102" cy="640080"/>
            <a:chOff x="5029200" y="3246120"/>
            <a:chExt cx="2283102" cy="640080"/>
          </a:xfrm>
        </p:grpSpPr>
        <p:sp>
          <p:nvSpPr>
            <p:cNvPr id="18" name="Shape 14"/>
            <p:cNvSpPr/>
            <p:nvPr/>
          </p:nvSpPr>
          <p:spPr>
            <a:xfrm>
              <a:off x="5117742" y="3246120"/>
              <a:ext cx="2194560" cy="640080"/>
            </a:xfrm>
            <a:prstGeom prst="rect">
              <a:avLst/>
            </a:prstGeom>
            <a:solidFill>
              <a:srgbClr val="134E4A"/>
            </a:solidFill>
            <a:ln/>
          </p:spPr>
        </p:sp>
        <p:sp>
          <p:nvSpPr>
            <p:cNvPr id="19" name="Text 15"/>
            <p:cNvSpPr/>
            <p:nvPr/>
          </p:nvSpPr>
          <p:spPr>
            <a:xfrm>
              <a:off x="5029200" y="3383280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Base Vectorielle FAISS</a:t>
              </a:r>
              <a:endParaRPr lang="en-US" sz="1100" b="1" dirty="0"/>
            </a:p>
          </p:txBody>
        </p:sp>
      </p:grpSp>
      <p:sp>
        <p:nvSpPr>
          <p:cNvPr id="20" name="Shape 16"/>
          <p:cNvSpPr/>
          <p:nvPr/>
        </p:nvSpPr>
        <p:spPr>
          <a:xfrm>
            <a:off x="457200" y="2286000"/>
            <a:ext cx="4297680" cy="141120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57200" y="2286000"/>
            <a:ext cx="73152" cy="141120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18"/>
          <p:cNvSpPr/>
          <p:nvPr/>
        </p:nvSpPr>
        <p:spPr>
          <a:xfrm>
            <a:off x="640080" y="228632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- Recherche evenements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40080" y="27432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"Concerts a Marseille ce weekend ?"
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"Que faire avec des enfants ?"
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"Des expos gratuites ?"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57200" y="3866559"/>
            <a:ext cx="4297680" cy="118582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57200" y="3866559"/>
            <a:ext cx="73152" cy="118582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2"/>
          <p:cNvSpPr/>
          <p:nvPr/>
        </p:nvSpPr>
        <p:spPr>
          <a:xfrm>
            <a:off x="599834" y="384273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- Conversation simple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40080" y="4106429"/>
            <a:ext cx="3931920" cy="948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"Bonjour !"
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"Merci pour ton aide"
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"Comment ca marche ?"</a:t>
            </a:r>
            <a:endParaRPr lang="en-US" sz="1100" dirty="0"/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C2751291-5521-653E-FE26-148DFA094FCF}"/>
              </a:ext>
            </a:extLst>
          </p:cNvPr>
          <p:cNvGrpSpPr/>
          <p:nvPr/>
        </p:nvGrpSpPr>
        <p:grpSpPr>
          <a:xfrm>
            <a:off x="5029200" y="4114800"/>
            <a:ext cx="3657600" cy="685800"/>
            <a:chOff x="5029200" y="4114800"/>
            <a:chExt cx="3657600" cy="685800"/>
          </a:xfrm>
        </p:grpSpPr>
        <p:sp>
          <p:nvSpPr>
            <p:cNvPr id="28" name="Shape 24"/>
            <p:cNvSpPr/>
            <p:nvPr/>
          </p:nvSpPr>
          <p:spPr>
            <a:xfrm>
              <a:off x="5029200" y="4114800"/>
              <a:ext cx="3657600" cy="68580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29" name="Text 25"/>
            <p:cNvSpPr/>
            <p:nvPr/>
          </p:nvSpPr>
          <p:spPr>
            <a:xfrm>
              <a:off x="5120640" y="4251960"/>
              <a:ext cx="34747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Avantage : Economise des appels API inutiles !</a:t>
              </a:r>
              <a:endParaRPr lang="en-US" sz="1200" dirty="0"/>
            </a:p>
          </p:txBody>
        </p:sp>
      </p:grpSp>
      <p:pic>
        <p:nvPicPr>
          <p:cNvPr id="34" name="Image 0" descr="preencoded.png">
            <a:extLst>
              <a:ext uri="{FF2B5EF4-FFF2-40B4-BE49-F238E27FC236}">
                <a16:creationId xmlns:a16="http://schemas.microsoft.com/office/drawing/2014/main" id="{18A6A7B3-375B-0728-DD75-983B659C3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280000">
            <a:off x="5852482" y="2820795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RAG Complet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32588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utilisateur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" y="1463040"/>
            <a:ext cx="228600" cy="228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10512" y="1097280"/>
            <a:ext cx="1325880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1810512" y="1143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810512" y="1463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810512" y="17373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ou CHAT ?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824" y="1463040"/>
            <a:ext cx="228600" cy="228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55264" y="1097280"/>
            <a:ext cx="1325880" cy="10058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0"/>
          <p:cNvSpPr/>
          <p:nvPr/>
        </p:nvSpPr>
        <p:spPr>
          <a:xfrm>
            <a:off x="3255264" y="1143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255264" y="1463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255264" y="17373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 -&gt; Vecteur</a:t>
            </a:r>
            <a:endParaRPr lang="en-US" sz="9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1463040"/>
            <a:ext cx="228600" cy="2286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700016" y="1097280"/>
            <a:ext cx="1325880" cy="10058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9" name="Text 14"/>
          <p:cNvSpPr/>
          <p:nvPr/>
        </p:nvSpPr>
        <p:spPr>
          <a:xfrm>
            <a:off x="4700016" y="1143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4700016" y="1463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00016" y="17373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top-k</a:t>
            </a:r>
            <a:endParaRPr lang="en-US" sz="9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1463040"/>
            <a:ext cx="228600" cy="2286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144768" y="1097280"/>
            <a:ext cx="132588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18"/>
          <p:cNvSpPr/>
          <p:nvPr/>
        </p:nvSpPr>
        <p:spPr>
          <a:xfrm>
            <a:off x="6144768" y="1143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6144768" y="1463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144768" y="17373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+ Query</a:t>
            </a:r>
            <a:endParaRPr lang="en-US" sz="9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463040"/>
            <a:ext cx="228600" cy="22860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7589520" y="1097280"/>
            <a:ext cx="1325880" cy="10058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9" name="Text 22"/>
          <p:cNvSpPr/>
          <p:nvPr/>
        </p:nvSpPr>
        <p:spPr>
          <a:xfrm>
            <a:off x="7589520" y="1143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7589520" y="1463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7589520" y="17373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-&gt; Reponse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457200" y="2286000"/>
            <a:ext cx="8229600" cy="2468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26"/>
          <p:cNvSpPr/>
          <p:nvPr/>
        </p:nvSpPr>
        <p:spPr>
          <a:xfrm>
            <a:off x="64008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simplifie (Python)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640080" y="283464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chat(query, history):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1. Classification intelligente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use_rag = self.needs_rag(query)  # "SEARCH" ou "CHAT" ?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use_rag: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2-4. Embedding + Recherche FAISS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 = self.search(query, top_k=5)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5-6. Augmentation + Generation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response = self.generate_response(query, results, history)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Conversation directe (pas de recherche)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response = self.conversation_response(query, history)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{"response": response, "sources": results, "used_rag": use_rag}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Technologique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292833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2928333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88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(coeur du projet)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800" y="173736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3.11 - Langage principal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- API REST performante et documentee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LCEL - Orchestration du pipeline RAG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AI - Embeddings + LLM (francais natif)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- Base vectorielle (Meta)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- Persistence des sessions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- Validation des donnees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0" y="1005840"/>
            <a:ext cx="3017520" cy="182525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0" y="1005840"/>
            <a:ext cx="73152" cy="182525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143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utilisateur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852160" y="1468514"/>
            <a:ext cx="2651760" cy="1217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app React + TypeScript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 : </a:t>
            </a: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tant que developpeur (pas seulement AI engineer), j'ai choisi une vraie app plutot que Streamlit.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&amp; Qualite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4389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(conteneurisation) | GitHub Actions (CI/CD) | pytest (tests ~80%) | Alembic (migrations)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du Systeme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463040" cy="822960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1600200"/>
            <a:ext cx="320040" cy="320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468880" y="1188720"/>
            <a:ext cx="1371600" cy="1188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4"/>
          <p:cNvSpPr/>
          <p:nvPr/>
        </p:nvSpPr>
        <p:spPr>
          <a:xfrm>
            <a:off x="2468880" y="1463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1600200"/>
            <a:ext cx="320040" cy="3200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389120" y="1005840"/>
            <a:ext cx="1828800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6"/>
          <p:cNvSpPr/>
          <p:nvPr/>
        </p:nvSpPr>
        <p:spPr>
          <a:xfrm>
            <a:off x="4389120" y="12344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REST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00200"/>
            <a:ext cx="320040" cy="3200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766560" y="914400"/>
            <a:ext cx="1920240" cy="173736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4" name="Text 8"/>
          <p:cNvSpPr/>
          <p:nvPr/>
        </p:nvSpPr>
        <p:spPr>
          <a:xfrm>
            <a:off x="6766560" y="11430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LCEL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1371600" y="3200400"/>
            <a:ext cx="201168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0"/>
          <p:cNvSpPr/>
          <p:nvPr/>
        </p:nvSpPr>
        <p:spPr>
          <a:xfrm>
            <a:off x="137160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AI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+ LLM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3657600" y="3200400"/>
            <a:ext cx="1828800" cy="914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2"/>
          <p:cNvSpPr/>
          <p:nvPr/>
        </p:nvSpPr>
        <p:spPr>
          <a:xfrm>
            <a:off x="3657600" y="3337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Vectorielle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760720" y="3200400"/>
            <a:ext cx="1828800" cy="914400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20" name="Text 14"/>
          <p:cNvSpPr/>
          <p:nvPr/>
        </p:nvSpPr>
        <p:spPr>
          <a:xfrm>
            <a:off x="5760720" y="3337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 flipH="1">
            <a:off x="7686434" y="2643711"/>
            <a:ext cx="80492" cy="38765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23926" y="2966971"/>
            <a:ext cx="6902754" cy="32197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3ED17FAD-14B7-FA7F-9C62-95789A01C1E7}"/>
              </a:ext>
            </a:extLst>
          </p:cNvPr>
          <p:cNvSpPr/>
          <p:nvPr/>
        </p:nvSpPr>
        <p:spPr>
          <a:xfrm>
            <a:off x="799779" y="2950872"/>
            <a:ext cx="535760" cy="837127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REST - Endpoints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5448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2336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645920"/>
            <a:ext cx="777240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642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0" y="1664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avec le chatbot (classification auto)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148840"/>
            <a:ext cx="777240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671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2167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/search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0" y="21671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semantique pure (sans generation)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651760"/>
            <a:ext cx="77724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6700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5448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23360" y="2670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Etat de sante du systeme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154680"/>
            <a:ext cx="777240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1729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54480" y="3172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/rebuild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23360" y="31729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Reconstruction de l'index FAISS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657600"/>
            <a:ext cx="77724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6758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54480" y="3675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/session/{id}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23360" y="36758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Recuperer l'historique d'une session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4160520"/>
            <a:ext cx="77724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1788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554480" y="4178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/session/{id}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023360" y="4178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Supprimer une session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interactive disponible sur /docs (Swagger UI)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Tests et Qualite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25880" y="1188720"/>
            <a:ext cx="2286000" cy="77724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4" name="Text 2"/>
          <p:cNvSpPr/>
          <p:nvPr/>
        </p:nvSpPr>
        <p:spPr>
          <a:xfrm>
            <a:off x="132588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E2E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2588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RAG complet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103120"/>
            <a:ext cx="32004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Integration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017520"/>
            <a:ext cx="4114800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3108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Unitaires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429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Modeles, composants RAG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188720"/>
            <a:ext cx="73152" cy="12801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Couverture de code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691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~80%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4846320" y="265176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651760"/>
            <a:ext cx="73152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 test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154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+ pytest-cov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297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Outils</a:t>
            </a:r>
            <a:r>
              <a:rPr lang="en-US" sz="1200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qualité</a:t>
            </a:r>
            <a:r>
              <a:rPr lang="en-US" sz="1200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: Ruff (linting) |GitHub Actions CI</a:t>
            </a:r>
            <a:endParaRPr lang="en-US" sz="1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Resultats d'Evaluation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RAGAS pour evaluer la qualite du RAG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Latence moyenne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3s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atteinte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417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pertinence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17830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37560" y="2468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Couverture mots-cles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417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de succes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17830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17920" y="24688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test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Qu'est-ce que RAGAS 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open-source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pour evaluer les systemes RAG.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 : 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 (fidelite au contexte), Answer Relevancy (pertinence), Context Precision/Recall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948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14B8A6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Demonstration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28800" y="3200400"/>
            <a:ext cx="5486400" cy="13716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33832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latin typeface="Arial"/>
                <a:ea typeface="Arial" pitchFamily="34" charset="-122"/>
                <a:cs typeface="Arial"/>
              </a:rPr>
              <a:t>"Quels concerts gratuits ce weekend a Marseille ?"
</a:t>
            </a:r>
            <a:endParaRPr lang="en-US" sz="1400">
              <a:latin typeface="Arial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200" dirty="0">
                <a:latin typeface="Arial"/>
                <a:ea typeface="Arial" pitchFamily="34" charset="-122"/>
                <a:cs typeface="Arial"/>
              </a:rPr>
              <a:t>Observation : Classification, recherche, reponse, sources</a:t>
            </a:r>
            <a:endParaRPr lang="en-US" sz="1400" dirty="0">
              <a:latin typeface="Arial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Limites et Perspectives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25603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88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actuelles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16916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a jour manuelle de l'index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d'authentification utilisateur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Memoire limitee (5 messages)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unique (OpenAgenda Marseille)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0" y="1005840"/>
            <a:ext cx="41148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0" y="1005840"/>
            <a:ext cx="73152" cy="256032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887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Ameliorations futures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800600" y="16916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automatique des evenements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Redis pour performances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 JWT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multi-villes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Filtres avances (date, prix...)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4008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technique envisagee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0080" y="4251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vers un vector store cloud (Pinecone/Weaviate) | Reranking avec Cross-Encoder | Streaming des reponses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D9488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3898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Systeme RAG fonctionnel et teste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19385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intelligente des requetes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6888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24871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documentee (FastAPI + Swagger)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17520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30358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utilisateur moderne (React)</a:t>
            </a:r>
            <a:endParaRPr lang="en-US" sz="16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66160"/>
            <a:ext cx="320040" cy="3200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97280" y="35844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d'evaluation RAGAS</a:t>
            </a: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8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Merci de votre attention ! Questions 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Affichage à l'écran (16:9)</PresentationFormat>
  <Paragraphs>0</Paragraphs>
  <Slides>16</Slides>
  <Notes>16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Events Assistant</dc:title>
  <dc:subject>PptxGenJS Presentation</dc:subject>
  <dc:creator>Pierre</dc:creator>
  <cp:lastModifiedBy>Pierre</cp:lastModifiedBy>
  <cp:revision>71</cp:revision>
  <dcterms:created xsi:type="dcterms:W3CDTF">2026-02-04T16:18:07Z</dcterms:created>
  <dcterms:modified xsi:type="dcterms:W3CDTF">2026-02-04T16:34:24Z</dcterms:modified>
</cp:coreProperties>
</file>